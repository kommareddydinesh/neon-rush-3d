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75120" y="1005840"/>
            <a:ext cx="22860" cy="475488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33488" y="1325880"/>
            <a:ext cx="22860" cy="475488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91856" y="1005840"/>
            <a:ext cx="22860" cy="475488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0224" y="1325880"/>
            <a:ext cx="22860" cy="475488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08592" y="1005840"/>
            <a:ext cx="22860" cy="475488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59" y="1325880"/>
            <a:ext cx="22860" cy="475488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25328" y="1005840"/>
            <a:ext cx="22860" cy="475488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5074920"/>
            <a:ext cx="685800" cy="2286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5074920"/>
            <a:ext cx="685800" cy="2286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5074920"/>
            <a:ext cx="685800" cy="2286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72600" y="5074920"/>
            <a:ext cx="685800" cy="2286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0" y="5074920"/>
            <a:ext cx="685800" cy="2286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9601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9F1FF"/>
                </a:solidFill>
                <a:latin typeface="Aptos"/>
              </a:defRPr>
            </a:pPr>
            <a:r>
              <a:t>BROWSER-BASED 3D GAME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600200"/>
            <a:ext cx="6126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F0F6FF"/>
                </a:solidFill>
                <a:latin typeface="Aptos Display"/>
              </a:defRPr>
            </a:pPr>
            <a:r>
              <a:t>NEON</a:t>
            </a:r>
          </a:p>
          <a:p>
            <a:pPr>
              <a:spcAft>
                <a:spcPts val="800"/>
              </a:spcAft>
              <a:defRPr sz="4800" b="1">
                <a:solidFill>
                  <a:srgbClr val="F0F6FF"/>
                </a:solidFill>
                <a:latin typeface="Aptos Display"/>
              </a:defRPr>
            </a:pPr>
            <a:r>
              <a:t>RUSH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490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B4DFF"/>
                </a:solidFill>
                <a:latin typeface="Aptos"/>
              </a:defRPr>
            </a:pPr>
            <a:r>
              <a:t>RUN THE GRID. BREAK THE LIMIT.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97A9CF"/>
                </a:solidFill>
                <a:latin typeface="Aptos"/>
              </a:defRPr>
            </a:pPr>
            <a:r>
              <a:t>A procedural cyberpunk endless runner built with JavaScript and Three.js — no Unity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26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97A9CF"/>
                </a:solidFill>
                <a:latin typeface="Aptos"/>
              </a:defRPr>
            </a:pPr>
            <a:r>
              <a:t>PROJECT PRESENTATION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9F1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234440" cy="3200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97A9C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7A9CF"/>
                </a:solidFill>
                <a:latin typeface="Aptos"/>
              </a:defRPr>
            </a:pPr>
            <a:r>
              <a:t>NEON RUSH  /  3D ENDLESS RUNNER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0F6FF"/>
                </a:solidFill>
                <a:latin typeface="Aptos"/>
              </a:defRPr>
            </a:pPr>
            <a:r>
              <a:t>A fast-paced 3D endless runner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846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97A9CF"/>
                </a:solidFill>
                <a:latin typeface="Aptos"/>
              </a:defRPr>
            </a:pPr>
            <a:r>
              <a:t>Players guide a futuristic runner through three lanes, avoid hazards, collect coins, and survive as the world gets faster.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17320"/>
            <a:ext cx="5257800" cy="4160520"/>
          </a:xfrm>
          <a:prstGeom prst="roundRect">
            <a:avLst/>
          </a:prstGeom>
          <a:solidFill>
            <a:srgbClr val="0D1328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9F1FF"/>
                </a:solidFill>
                <a:latin typeface="Aptos"/>
              </a:defRPr>
            </a:pPr>
            <a:r>
              <a:t>CORE GAME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4D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331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6FF"/>
                </a:solidFill>
                <a:latin typeface="Aptos"/>
              </a:defRPr>
            </a:pPr>
            <a:r>
              <a:t>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01752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4D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0175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6FF"/>
                </a:solidFill>
                <a:latin typeface="Aptos"/>
              </a:defRPr>
            </a:pPr>
            <a:r>
              <a:t>DODGE / JUMP / SLIDE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0332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4D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703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6FF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4D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3891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6FF"/>
                </a:solidFill>
                <a:latin typeface="Aptos"/>
              </a:defRPr>
            </a:pPr>
            <a:r>
              <a:t>SURVIVE &amp;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9F1FF"/>
                </a:solidFill>
                <a:latin typeface="Aptos"/>
              </a:defRPr>
            </a:pPr>
            <a:r>
              <a:t>Platform: Modern desktop and mobile browsers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9F1FF"/>
                </a:solidFill>
                <a:latin typeface="Aptos Display"/>
              </a:defRPr>
            </a:pPr>
            <a:r>
              <a:t>OBJECTIVES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234440" cy="3200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97A9C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7A9CF"/>
                </a:solidFill>
                <a:latin typeface="Aptos"/>
              </a:defRPr>
            </a:pPr>
            <a:r>
              <a:t>NEON RUSH  /  3D ENDLESS RUNNER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81328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371600"/>
            <a:ext cx="103510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0F6FF"/>
                </a:solidFill>
                <a:latin typeface="Aptos"/>
              </a:defRPr>
            </a:pPr>
            <a:r>
              <a:t>Build an engaging 3D game using code-first web technologies.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22576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212848"/>
            <a:ext cx="103510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0F6FF"/>
                </a:solidFill>
                <a:latin typeface="Aptos"/>
              </a:defRPr>
            </a:pPr>
            <a:r>
              <a:t>Create a futuristic cyberpunk visual identity with neon lighting.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63824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054096"/>
            <a:ext cx="103510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0F6FF"/>
                </a:solidFill>
                <a:latin typeface="Aptos"/>
              </a:defRPr>
            </a:pPr>
            <a:r>
              <a:t>Implement responsive controls for keyboard, touch buttons, and swipe gestures.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05072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895344"/>
            <a:ext cx="103510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0F6FF"/>
                </a:solidFill>
                <a:latin typeface="Aptos"/>
              </a:defRPr>
            </a:pPr>
            <a:r>
              <a:t>Demonstrate collision detection, scoring, game states, and difficulty scaling.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846320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736592"/>
            <a:ext cx="103510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0F6FF"/>
                </a:solidFill>
                <a:latin typeface="Aptos"/>
              </a:defRPr>
            </a:pPr>
            <a:r>
              <a:t>Keep the project asset-light through procedural geometry and generated effects.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9F1FF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234440" cy="3200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97A9C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7A9CF"/>
                </a:solidFill>
                <a:latin typeface="Aptos"/>
              </a:defRPr>
            </a:pPr>
            <a:r>
              <a:t>NEON RUSH  /  3D ENDLESS RUNNER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37560" cy="1572768"/>
          </a:xfrm>
          <a:prstGeom prst="roundRect">
            <a:avLst/>
          </a:prstGeom>
          <a:solidFill>
            <a:srgbClr val="0D1328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9F1FF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7A9CF"/>
                </a:solidFill>
                <a:latin typeface="Aptos"/>
              </a:defRPr>
            </a:pPr>
            <a:r>
              <a:t>Page structure &amp; game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17320"/>
            <a:ext cx="3337560" cy="1572768"/>
          </a:xfrm>
          <a:prstGeom prst="roundRect">
            <a:avLst/>
          </a:prstGeom>
          <a:solidFill>
            <a:srgbClr val="0D1328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7" y="160020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9F1FF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1031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7A9CF"/>
                </a:solidFill>
                <a:latin typeface="Aptos"/>
              </a:defRPr>
            </a:pPr>
            <a:r>
              <a:t>Responsive HUD, menus &amp; neon theme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337560" cy="1572768"/>
          </a:xfrm>
          <a:prstGeom prst="roundRect">
            <a:avLst/>
          </a:prstGeom>
          <a:solidFill>
            <a:srgbClr val="0D1328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60020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9F1FF"/>
                </a:solidFill>
                <a:latin typeface="Aptos"/>
              </a:defRPr>
            </a:pPr>
            <a:r>
              <a:t>JavaScript ES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1031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7A9CF"/>
                </a:solidFill>
                <a:latin typeface="Aptos"/>
              </a:defRPr>
            </a:pPr>
            <a:r>
              <a:t>Gameplay logic and state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3337560" cy="1572768"/>
          </a:xfrm>
          <a:prstGeom prst="roundRect">
            <a:avLst/>
          </a:prstGeom>
          <a:solidFill>
            <a:srgbClr val="0D1328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5760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9F1FF"/>
                </a:solidFill>
                <a:latin typeface="Aptos"/>
              </a:defRPr>
            </a:pPr>
            <a:r>
              <a:t>Three.js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605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7A9CF"/>
                </a:solidFill>
                <a:latin typeface="Aptos"/>
              </a:defRPr>
            </a:pPr>
            <a:r>
              <a:t>3D rendering, camera, lights &amp; geometry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474720"/>
            <a:ext cx="3337560" cy="1572768"/>
          </a:xfrm>
          <a:prstGeom prst="roundRect">
            <a:avLst/>
          </a:prstGeom>
          <a:solidFill>
            <a:srgbClr val="0D1328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7" y="365760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9F1FF"/>
                </a:solidFill>
                <a:latin typeface="Aptos"/>
              </a:defRPr>
            </a:pPr>
            <a:r>
              <a:t>Vite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7" y="41605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7A9CF"/>
                </a:solidFill>
                <a:latin typeface="Aptos"/>
              </a:defRPr>
            </a:pPr>
            <a:r>
              <a:t>Local development server and production build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474720"/>
            <a:ext cx="3337560" cy="1572768"/>
          </a:xfrm>
          <a:prstGeom prst="roundRect">
            <a:avLst/>
          </a:prstGeom>
          <a:solidFill>
            <a:srgbClr val="0D1328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365760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9F1FF"/>
                </a:solidFill>
                <a:latin typeface="Aptos"/>
              </a:defRPr>
            </a:pPr>
            <a:r>
              <a:t>Web Audio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41605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7A9CF"/>
                </a:solidFill>
                <a:latin typeface="Aptos"/>
              </a:defRPr>
            </a:pPr>
            <a:r>
              <a:t>Programmatically generated sound effects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9F1FF"/>
                </a:solidFill>
                <a:latin typeface="Aptos Display"/>
              </a:defRPr>
            </a:pPr>
            <a:r>
              <a:t>GAMEPLAY MECHANICS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234440" cy="3200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97A9C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7A9CF"/>
                </a:solidFill>
                <a:latin typeface="Aptos"/>
              </a:defRPr>
            </a:pPr>
            <a:r>
              <a:t>NEON RUSH  /  3D ENDLESS RUNNER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89888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280160"/>
            <a:ext cx="5413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Three-lane movement with smooth transitions.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94560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084831"/>
            <a:ext cx="5413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Jump over low barriers; slide under suitable hazards.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99232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889504"/>
            <a:ext cx="5413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Collect coins and energy pickups for bonus points.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803904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694176"/>
            <a:ext cx="5413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Avoid collisions to keep the run alive.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608576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498848"/>
            <a:ext cx="5413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Speed and spawn pressure increase over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371600"/>
            <a:ext cx="4480560" cy="4434840"/>
          </a:xfrm>
          <a:prstGeom prst="roundRect">
            <a:avLst/>
          </a:prstGeom>
          <a:solidFill>
            <a:srgbClr val="0D1328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691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4DFF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2240280"/>
            <a:ext cx="1508760" cy="347472"/>
          </a:xfrm>
          <a:prstGeom prst="roundRect">
            <a:avLst/>
          </a:prstGeom>
          <a:solidFill>
            <a:srgbClr val="192D52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9752" y="22722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29F1FF"/>
                </a:solidFill>
                <a:latin typeface="Aptos"/>
              </a:defRPr>
            </a:pPr>
            <a:r>
              <a:t>← /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2585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6FF"/>
                </a:solidFill>
                <a:latin typeface="Aptos"/>
              </a:defRPr>
            </a:pPr>
            <a:r>
              <a:t>Move left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2770632"/>
            <a:ext cx="1508760" cy="347472"/>
          </a:xfrm>
          <a:prstGeom prst="roundRect">
            <a:avLst/>
          </a:prstGeom>
          <a:solidFill>
            <a:srgbClr val="192D52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9752" y="28026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29F1FF"/>
                </a:solidFill>
                <a:latin typeface="Aptos"/>
              </a:defRPr>
            </a:pPr>
            <a:r>
              <a:t>→ /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7889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6FF"/>
                </a:solidFill>
                <a:latin typeface="Aptos"/>
              </a:defRPr>
            </a:pPr>
            <a:r>
              <a:t>Move right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3300984"/>
            <a:ext cx="1508760" cy="347472"/>
          </a:xfrm>
          <a:prstGeom prst="roundRect">
            <a:avLst/>
          </a:prstGeom>
          <a:solidFill>
            <a:srgbClr val="192D52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9752" y="33329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29F1FF"/>
                </a:solidFill>
                <a:latin typeface="Aptos"/>
              </a:defRPr>
            </a:pPr>
            <a:r>
              <a:t>↑ / W / 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3192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6FF"/>
                </a:solidFill>
                <a:latin typeface="Aptos"/>
              </a:defRPr>
            </a:pPr>
            <a:r>
              <a:t>Jump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3831335"/>
            <a:ext cx="1508760" cy="347472"/>
          </a:xfrm>
          <a:prstGeom prst="roundRect">
            <a:avLst/>
          </a:prstGeom>
          <a:solidFill>
            <a:srgbClr val="192D52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9752" y="38633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29F1FF"/>
                </a:solidFill>
                <a:latin typeface="Aptos"/>
              </a:defRPr>
            </a:pPr>
            <a:r>
              <a:t>↓ /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849623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6FF"/>
                </a:solidFill>
                <a:latin typeface="Aptos"/>
              </a:defRPr>
            </a:pPr>
            <a:r>
              <a:t>Slide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600" y="4361688"/>
            <a:ext cx="1508760" cy="347472"/>
          </a:xfrm>
          <a:prstGeom prst="roundRect">
            <a:avLst/>
          </a:prstGeom>
          <a:solidFill>
            <a:srgbClr val="192D52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9752" y="43936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29F1FF"/>
                </a:solidFill>
                <a:latin typeface="Aptos"/>
              </a:defRPr>
            </a:pPr>
            <a:r>
              <a:t>P / ESC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379975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6FF"/>
                </a:solidFill>
                <a:latin typeface="Aptos"/>
              </a:defRPr>
            </a:pPr>
            <a:r>
              <a:t>Pause / resume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4892040"/>
            <a:ext cx="1508760" cy="347472"/>
          </a:xfrm>
          <a:prstGeom prst="roundRect">
            <a:avLst/>
          </a:prstGeom>
          <a:solidFill>
            <a:srgbClr val="192D52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59752" y="49240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29F1FF"/>
                </a:solidFill>
                <a:latin typeface="Aptos"/>
              </a:defRPr>
            </a:pPr>
            <a:r>
              <a:t>Swipe / touch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910327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6FF"/>
                </a:solidFill>
                <a:latin typeface="Aptos"/>
              </a:defRPr>
            </a:pPr>
            <a:r>
              <a:t>Mobile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9F1FF"/>
                </a:solidFill>
                <a:latin typeface="Aptos Display"/>
              </a:defRPr>
            </a:pPr>
            <a:r>
              <a:t>VISUAL DESIGN &amp;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234440" cy="3200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97A9C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7A9CF"/>
                </a:solidFill>
                <a:latin typeface="Aptos"/>
              </a:defRPr>
            </a:pPr>
            <a:r>
              <a:t>NEON RUSH  /  3D ENDLESS RUNNER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35607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325880"/>
            <a:ext cx="52303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Dark futuristic city and endless road.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240280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30552"/>
            <a:ext cx="52303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Cyan and magenta emissive materials.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44952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935224"/>
            <a:ext cx="52303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Procedural skyline, stars, lane markers and roadside lights.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49624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739896"/>
            <a:ext cx="52303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Following camera with subtle movement.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54296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544568"/>
            <a:ext cx="52303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Animated coins, energy crystals and hazard accents.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417320"/>
            <a:ext cx="4297680" cy="3611880"/>
          </a:xfrm>
          <a:prstGeom prst="roundRect">
            <a:avLst/>
          </a:prstGeom>
          <a:solidFill>
            <a:srgbClr val="0D1328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737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9F1FF"/>
                </a:solidFill>
                <a:latin typeface="Aptos"/>
              </a:defRPr>
            </a:pPr>
            <a:r>
              <a:t>NEON COLOR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2331720"/>
            <a:ext cx="502920" cy="320040"/>
          </a:xfrm>
          <a:prstGeom prst="round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3500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F"/>
                </a:solidFill>
                <a:latin typeface="Aptos"/>
              </a:defRPr>
            </a:pPr>
            <a:r>
              <a:t>CYAN ENERGY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2926079"/>
            <a:ext cx="502920" cy="320040"/>
          </a:xfrm>
          <a:prstGeom prst="round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9443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F"/>
                </a:solidFill>
                <a:latin typeface="Aptos"/>
              </a:defRPr>
            </a:pPr>
            <a:r>
              <a:t>MAGENTA GLOW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3520439"/>
            <a:ext cx="502920" cy="320040"/>
          </a:xfrm>
          <a:prstGeom prst="roundRect">
            <a:avLst/>
          </a:prstGeom>
          <a:solidFill>
            <a:srgbClr val="070916"/>
          </a:solidFill>
          <a:ln>
            <a:solidFill>
              <a:srgbClr val="070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35387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F"/>
                </a:solidFill>
                <a:latin typeface="Aptos"/>
              </a:defRPr>
            </a:pPr>
            <a:r>
              <a:t>DEEP SPACE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4114800"/>
            <a:ext cx="502920" cy="320040"/>
          </a:xfrm>
          <a:prstGeom prst="roundRect">
            <a:avLst/>
          </a:prstGeom>
          <a:solidFill>
            <a:srgbClr val="192D52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413308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F"/>
                </a:solidFill>
                <a:latin typeface="Aptos"/>
              </a:defRPr>
            </a:pPr>
            <a:r>
              <a:t>GRID BLUE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9F1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234440" cy="3200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97A9C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7A9CF"/>
                </a:solidFill>
                <a:latin typeface="Aptos"/>
              </a:defRPr>
            </a:pPr>
            <a:r>
              <a:t>NEON RUSH  /  3D ENDLESS RUNNER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9966960" cy="694944"/>
          </a:xfrm>
          <a:prstGeom prst="roundRect">
            <a:avLst/>
          </a:prstGeom>
          <a:solidFill>
            <a:srgbClr val="0D1328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3441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9F1FF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34416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0F6FF"/>
                </a:solidFill>
                <a:latin typeface="Aptos"/>
              </a:defRPr>
            </a:pPr>
            <a:r>
              <a:t>index.html  •  style.css  •  UI.js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92938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97A9C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194560"/>
            <a:ext cx="9966960" cy="694944"/>
          </a:xfrm>
          <a:prstGeom prst="roundRect">
            <a:avLst/>
          </a:prstGeom>
          <a:solidFill>
            <a:srgbClr val="0D1328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3042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4DFF"/>
                </a:solidFill>
                <a:latin typeface="Aptos"/>
              </a:defRPr>
            </a:pPr>
            <a:r>
              <a:t>GAME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0428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0F6FF"/>
                </a:solidFill>
                <a:latin typeface="Aptos"/>
              </a:defRPr>
            </a:pPr>
            <a:r>
              <a:t>main.js  •  animation frame  •  input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88950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97A9C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154680"/>
            <a:ext cx="9966960" cy="694944"/>
          </a:xfrm>
          <a:prstGeom prst="roundRect">
            <a:avLst/>
          </a:prstGeom>
          <a:solidFill>
            <a:srgbClr val="0D1328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264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9F1FF"/>
                </a:solidFill>
                <a:latin typeface="Aptos"/>
              </a:defRPr>
            </a:pPr>
            <a:r>
              <a:t>GAME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6440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0F6FF"/>
                </a:solidFill>
                <a:latin typeface="Aptos"/>
              </a:defRPr>
            </a:pPr>
            <a:r>
              <a:t>Game.js  •  Player.js  •  ObstacleManager.js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84962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97A9C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114800"/>
            <a:ext cx="9966960" cy="694944"/>
          </a:xfrm>
          <a:prstGeom prst="roundRect">
            <a:avLst/>
          </a:prstGeom>
          <a:solidFill>
            <a:srgbClr val="0D1328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2245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4DFF"/>
                </a:solidFill>
                <a:latin typeface="Aptos"/>
              </a:defRPr>
            </a:pPr>
            <a:r>
              <a:t>3D WORLD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22452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0F6FF"/>
                </a:solidFill>
                <a:latin typeface="Aptos"/>
              </a:defRPr>
            </a:pPr>
            <a:r>
              <a:t>World.js  •  Three.js scene / camera / lighting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80974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97A9C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074920"/>
            <a:ext cx="9966960" cy="694944"/>
          </a:xfrm>
          <a:prstGeom prst="roundRect">
            <a:avLst/>
          </a:prstGeom>
          <a:solidFill>
            <a:srgbClr val="0D1328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1846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9F1FF"/>
                </a:solidFill>
                <a:latin typeface="Aptos"/>
              </a:defRPr>
            </a:pPr>
            <a:r>
              <a:t>BUILD TOOLING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18464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0F6FF"/>
                </a:solidFill>
                <a:latin typeface="Aptos"/>
              </a:defRPr>
            </a:pPr>
            <a:r>
              <a:t>Vite dev server  •  npm scripts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9F1FF"/>
                </a:solidFill>
                <a:latin typeface="Aptos Display"/>
              </a:defRPr>
            </a:pPr>
            <a:r>
              <a:t>SCORING, DIFFICULTY &amp; GAME STATES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234440" cy="3200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97A9C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7A9CF"/>
                </a:solidFill>
                <a:latin typeface="Aptos"/>
              </a:defRPr>
            </a:pPr>
            <a:r>
              <a:t>NEON RUSH  /  3D ENDLESS RUNNER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5029200" cy="4206240"/>
          </a:xfrm>
          <a:prstGeom prst="roundRect">
            <a:avLst/>
          </a:prstGeom>
          <a:solidFill>
            <a:srgbClr val="0D1328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91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9F1FF"/>
                </a:solidFill>
                <a:latin typeface="Aptos"/>
              </a:defRPr>
            </a:pPr>
            <a:r>
              <a:t>SCORING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350008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2240280"/>
            <a:ext cx="39959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0F6FF"/>
                </a:solidFill>
                <a:latin typeface="Aptos"/>
              </a:defRPr>
            </a:pPr>
            <a:r>
              <a:t>Survival time steadily adds score.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3035808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2926080"/>
            <a:ext cx="39959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0F6FF"/>
                </a:solidFill>
                <a:latin typeface="Aptos"/>
              </a:defRPr>
            </a:pPr>
            <a:r>
              <a:t>Coins add points and update the coin counter.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721608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3611880"/>
            <a:ext cx="39959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0F6FF"/>
                </a:solidFill>
                <a:latin typeface="Aptos"/>
              </a:defRPr>
            </a:pPr>
            <a:r>
              <a:t>Energy pickups grant a larger bonus.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4407408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4752" y="4297680"/>
            <a:ext cx="39959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0F6FF"/>
                </a:solidFill>
                <a:latin typeface="Aptos"/>
              </a:defRPr>
            </a:pPr>
            <a:r>
              <a:t>Best score persists with localStorage.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371600"/>
            <a:ext cx="4663440" cy="4206240"/>
          </a:xfrm>
          <a:prstGeom prst="roundRect">
            <a:avLst/>
          </a:prstGeom>
          <a:solidFill>
            <a:srgbClr val="0D1328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691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4DFF"/>
                </a:solidFill>
                <a:latin typeface="Aptos"/>
              </a:defRPr>
            </a:pPr>
            <a:r>
              <a:t>GAME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331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0F6FF"/>
                </a:solidFill>
                <a:latin typeface="Aptos"/>
              </a:defRPr>
            </a:pPr>
            <a:r>
              <a:t>MENU → RUNNING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990087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0F6FF"/>
                </a:solidFill>
                <a:latin typeface="Aptos"/>
              </a:defRPr>
            </a:pPr>
            <a:r>
              <a:t>RUNNING ↔ PAUSED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64845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0F6FF"/>
                </a:solidFill>
                <a:latin typeface="Aptos"/>
              </a:defRPr>
            </a:pPr>
            <a:r>
              <a:t>RUNNING → GAME 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3068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0F6FF"/>
                </a:solidFill>
                <a:latin typeface="Aptos"/>
              </a:defRPr>
            </a:pPr>
            <a:r>
              <a:t>GAME OVER → RESTART / MENU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9F1FF"/>
                </a:solidFill>
                <a:latin typeface="Aptos Display"/>
              </a:defRPr>
            </a:pPr>
            <a:r>
              <a:t>RESPONSIVE INPUT &amp; AUDIO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234440" cy="3200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97A9C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7A9CF"/>
                </a:solidFill>
                <a:latin typeface="Aptos"/>
              </a:defRPr>
            </a:pPr>
            <a:r>
              <a:t>NEON RUSH  /  3D ENDLESS RUNNER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81328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371600"/>
            <a:ext cx="101681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6FF"/>
                </a:solidFill>
                <a:latin typeface="Aptos"/>
              </a:defRPr>
            </a:pPr>
            <a:r>
              <a:t>Keyboard support: arrows, WASD, Space, P and Escape.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22576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212848"/>
            <a:ext cx="101681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6FF"/>
                </a:solidFill>
                <a:latin typeface="Aptos"/>
              </a:defRPr>
            </a:pPr>
            <a:r>
              <a:t>Mobile touch buttons for lane changes, jump and slide.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63824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054096"/>
            <a:ext cx="101681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6FF"/>
                </a:solidFill>
                <a:latin typeface="Aptos"/>
              </a:defRPr>
            </a:pPr>
            <a:r>
              <a:t>Swipe gestures map horizontal movement to lanes and vertical movement to jump/slide.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05072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895344"/>
            <a:ext cx="101681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6FF"/>
                </a:solidFill>
                <a:latin typeface="Aptos"/>
              </a:defRPr>
            </a:pPr>
            <a:r>
              <a:t>Web Audio API synthesizes lightweight sound effects at runtime.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846320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736592"/>
            <a:ext cx="101681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6FF"/>
                </a:solidFill>
                <a:latin typeface="Aptos"/>
              </a:defRPr>
            </a:pPr>
            <a:r>
              <a:t>Sound can be toggled; browser audio starts after user interaction.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9F1FF"/>
                </a:solidFill>
                <a:latin typeface="Aptos Display"/>
              </a:defRPr>
            </a:pPr>
            <a:r>
              <a:t>HOW TO RUN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234440" cy="3200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97A9C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7A9CF"/>
                </a:solidFill>
                <a:latin typeface="Aptos"/>
              </a:defRPr>
            </a:pPr>
            <a:r>
              <a:t>NEON RUSH  /  3D ENDLESS RUNNER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34440"/>
            <a:ext cx="530352" cy="530352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35331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07091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2252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6FF"/>
                </a:solidFill>
                <a:latin typeface="Aptos"/>
              </a:defRPr>
            </a:pPr>
            <a:r>
              <a:t>Install Node.js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225296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7A9CF"/>
                </a:solidFill>
                <a:latin typeface="Aptos"/>
              </a:defRPr>
            </a:pPr>
            <a:r>
              <a:t>Use a current supported Node.js release.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176272"/>
            <a:ext cx="530352" cy="530352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29514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07091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167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6FF"/>
                </a:solidFill>
                <a:latin typeface="Aptos"/>
              </a:defRPr>
            </a:pPr>
            <a:r>
              <a:t>Extract ZIP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16712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7A9CF"/>
                </a:solidFill>
                <a:latin typeface="Aptos"/>
              </a:defRPr>
            </a:pPr>
            <a:r>
              <a:t>Open the NEON_RUSH folder in Visual Studio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118104"/>
            <a:ext cx="530352" cy="530352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2369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07091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6FF"/>
                </a:solidFill>
                <a:latin typeface="Aptos"/>
              </a:defRPr>
            </a:pPr>
            <a:r>
              <a:t>Install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089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7A9CF"/>
                </a:solidFill>
                <a:latin typeface="Aptos"/>
              </a:defRPr>
            </a:pPr>
            <a:r>
              <a:t>Run: npm install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059935"/>
            <a:ext cx="530352" cy="530352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178807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07091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507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6FF"/>
                </a:solidFill>
                <a:latin typeface="Aptos"/>
              </a:defRPr>
            </a:pPr>
            <a:r>
              <a:t>Start development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050791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7A9CF"/>
                </a:solidFill>
                <a:latin typeface="Aptos"/>
              </a:defRPr>
            </a:pPr>
            <a:r>
              <a:t>Run: npm run dev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001768"/>
            <a:ext cx="530352" cy="530352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1206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07091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6FF"/>
                </a:solidFill>
                <a:latin typeface="Aptos"/>
              </a:defRPr>
            </a:pPr>
            <a:r>
              <a:t>Open browser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992624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7A9CF"/>
                </a:solidFill>
                <a:latin typeface="Aptos"/>
              </a:defRPr>
            </a:pPr>
            <a:r>
              <a:t>Visit the local URL printed by Vite (often localhost:5173).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9F1FF"/>
                </a:solidFill>
                <a:latin typeface="Aptos Display"/>
              </a:defRPr>
            </a:pPr>
            <a:r>
              <a:t>TESTING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234440" cy="3200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97A9C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7A9CF"/>
                </a:solidFill>
                <a:latin typeface="Aptos"/>
              </a:defRPr>
            </a:pPr>
            <a:r>
              <a:t>NEON RUSH  /  3D ENDLESS RUNNER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35607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325880"/>
            <a:ext cx="10259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Confirm dependencies install without npm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85416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75688"/>
            <a:ext cx="10259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Verify the title screen and Initialize Run button.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35224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825496"/>
            <a:ext cx="10259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Test all lane, jump, and slide controls.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85032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575304"/>
            <a:ext cx="10259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Check coin collection, obstacle collisions, score, and game-over flow.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34840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325112"/>
            <a:ext cx="10259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Verify pause/resume, restart, mute, resize, and mobile input.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84648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074920"/>
            <a:ext cx="10259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0F6FF"/>
                </a:solidFill>
                <a:latin typeface="Aptos"/>
              </a:defRPr>
            </a:pPr>
            <a:r>
              <a:t>Run npm run build and resolve any reported build errors.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893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7A9CF"/>
                </a:solidFill>
                <a:latin typeface="Aptos"/>
              </a:defRPr>
            </a:pPr>
            <a:r>
              <a:t>Status note: the source ZIP was generated; successful runtime testing still needs to be performed locally.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9F1FF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234440" cy="3200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97A9C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7A9CF"/>
                </a:solidFill>
                <a:latin typeface="Aptos"/>
              </a:defRPr>
            </a:pPr>
            <a:r>
              <a:t>NEON RUSH  /  3D ENDLESS RUNNER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35607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325880"/>
            <a:ext cx="1016812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6FF"/>
                </a:solidFill>
                <a:latin typeface="Aptos"/>
              </a:defRPr>
            </a:pPr>
            <a:r>
              <a:t>Add a character selection screen and unlockable skins.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221992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12264"/>
            <a:ext cx="1016812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6FF"/>
                </a:solidFill>
                <a:latin typeface="Aptos"/>
              </a:defRPr>
            </a:pPr>
            <a:r>
              <a:t>Introduce missions, achievements, and daily challenges.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08376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898648"/>
            <a:ext cx="1016812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6FF"/>
                </a:solidFill>
                <a:latin typeface="Aptos"/>
              </a:defRPr>
            </a:pPr>
            <a:r>
              <a:t>Add richer post-processing glow and particle trails.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685032"/>
            <a:ext cx="1016812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6FF"/>
                </a:solidFill>
                <a:latin typeface="Aptos"/>
              </a:defRPr>
            </a:pPr>
            <a:r>
              <a:t>Add procedural music and expanded sound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81144"/>
            <a:ext cx="100584" cy="100584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471416"/>
            <a:ext cx="1016812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6FF"/>
                </a:solidFill>
                <a:latin typeface="Aptos"/>
              </a:defRPr>
            </a:pPr>
            <a:r>
              <a:t>Add leaderboards or cloud save after defining a backend.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67528"/>
            <a:ext cx="100584" cy="100584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257800"/>
            <a:ext cx="1016812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6FF"/>
                </a:solidFill>
                <a:latin typeface="Aptos"/>
              </a:defRPr>
            </a:pPr>
            <a:r>
              <a:t>Package as a desktop app with a wrapper if a standalone executable is required.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9F1FF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36576" cy="6858000"/>
          </a:xfrm>
          <a:prstGeom prst="rect">
            <a:avLst/>
          </a:prstGeom>
          <a:solidFill>
            <a:srgbClr val="FB4DFF"/>
          </a:solidFill>
          <a:ln>
            <a:solidFill>
              <a:srgbClr val="F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9F1FF"/>
                </a:solidFill>
                <a:latin typeface="Aptos"/>
              </a:defRPr>
            </a:pPr>
            <a:r>
              <a:t>NEON RUSH //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7132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700" b="1">
                <a:solidFill>
                  <a:srgbClr val="F0F6FF"/>
                </a:solidFill>
                <a:latin typeface="Aptos Display"/>
              </a:defRPr>
            </a:pPr>
            <a:r>
              <a:t>RUN THE GRID.</a:t>
            </a:r>
          </a:p>
          <a:p>
            <a:pPr>
              <a:spcAft>
                <a:spcPts val="800"/>
              </a:spcAft>
              <a:defRPr sz="3700" b="1">
                <a:solidFill>
                  <a:srgbClr val="F0F6FF"/>
                </a:solidFill>
                <a:latin typeface="Aptos Display"/>
              </a:defRPr>
            </a:pPr>
            <a:r>
              <a:t>BREAK THE LIMIT.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6858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97A9CF"/>
                </a:solidFill>
                <a:latin typeface="Aptos"/>
              </a:defRPr>
            </a:pPr>
            <a:r>
              <a:t>A code-first 3D game demonstrating real-time rendering, procedural environments, responsive input, collision logic, and progressive gameplay.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17320"/>
            <a:ext cx="2880360" cy="3566160"/>
          </a:xfrm>
          <a:prstGeom prst="roundRect">
            <a:avLst/>
          </a:prstGeom>
          <a:solidFill>
            <a:srgbClr val="0D1328"/>
          </a:solidFill>
          <a:ln>
            <a:solidFill>
              <a:srgbClr val="2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FB4D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743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0F6FF"/>
                </a:solidFill>
                <a:latin typeface="Aptos"/>
              </a:defRPr>
            </a:pPr>
            <a:r>
              <a:t>QUESTIONS</a:t>
            </a:r>
          </a:p>
          <a:p>
            <a:pPr algn="ctr">
              <a:spcAft>
                <a:spcPts val="800"/>
              </a:spcAft>
              <a:defRPr sz="1700" b="1">
                <a:solidFill>
                  <a:srgbClr val="F0F6FF"/>
                </a:solidFill>
                <a:latin typeface="Aptos"/>
              </a:defRPr>
            </a:pPr>
            <a:r>
              <a:t>&amp;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17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F1FF"/>
                </a:solidFill>
                <a:latin typeface="Aptos"/>
              </a:defRPr>
            </a:pPr>
            <a:r>
              <a:t>HTML5  •  CSS3  •  JAVASCRIPT  •  THREE.JS  •  VITE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